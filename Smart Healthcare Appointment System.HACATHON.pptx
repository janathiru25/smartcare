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theme/themeOverride2.xml" ContentType="application/vnd.openxmlformats-officedocument.themeOverr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17"/>
  </p:notesMasterIdLst>
  <p:sldIdLst>
    <p:sldId id="278" r:id="rId5"/>
    <p:sldId id="279" r:id="rId6"/>
    <p:sldId id="280" r:id="rId7"/>
    <p:sldId id="281" r:id="rId8"/>
    <p:sldId id="282" r:id="rId9"/>
    <p:sldId id="283" r:id="rId10"/>
    <p:sldId id="284" r:id="rId11"/>
    <p:sldId id="288" r:id="rId12"/>
    <p:sldId id="285" r:id="rId13"/>
    <p:sldId id="286" r:id="rId14"/>
    <p:sldId id="287" r:id="rId15"/>
    <p:sldId id="289"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7AE4A52-C08F-4FFA-A65F-3083DC15C378}" v="1" dt="2025-11-02T09:10:47.28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19" autoAdjust="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ishu kook" userId="9bb8aa28b3e72e05" providerId="LiveId" clId="{E072F271-43DD-4AE7-8DA7-14938902C0FB}"/>
    <pc:docChg chg="undo custSel addSld delSld">
      <pc:chgData name="vaishu kook" userId="9bb8aa28b3e72e05" providerId="LiveId" clId="{E072F271-43DD-4AE7-8DA7-14938902C0FB}" dt="2025-11-02T09:10:53.234" v="1" actId="680"/>
      <pc:docMkLst>
        <pc:docMk/>
      </pc:docMkLst>
      <pc:sldChg chg="new del">
        <pc:chgData name="vaishu kook" userId="9bb8aa28b3e72e05" providerId="LiveId" clId="{E072F271-43DD-4AE7-8DA7-14938902C0FB}" dt="2025-11-02T09:10:53.234" v="1" actId="680"/>
        <pc:sldMkLst>
          <pc:docMk/>
          <pc:sldMk cId="1939347088" sldId="29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D01546-198A-4195-BCF8-F0FF54C90E5E}" type="datetimeFigureOut">
              <a:rPr lang="en-US" smtClean="0"/>
              <a:t>11/2/2025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6DE88F-1F85-4A27-9D34-D74A50E7B0DA}" type="slidenum">
              <a:rPr lang="en-US" smtClean="0"/>
              <a:t>‹#›</a:t>
            </a:fld>
            <a:endParaRPr lang="en-US" dirty="0"/>
          </a:p>
        </p:txBody>
      </p:sp>
    </p:spTree>
    <p:extLst>
      <p:ext uri="{BB962C8B-B14F-4D97-AF65-F5344CB8AC3E}">
        <p14:creationId xmlns:p14="http://schemas.microsoft.com/office/powerpoint/2010/main" val="37300918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E6DE88F-1F85-4A27-9D34-D74A50E7B0DA}" type="slidenum">
              <a:rPr lang="en-US" smtClean="0"/>
              <a:t>1</a:t>
            </a:fld>
            <a:endParaRPr lang="en-US" dirty="0"/>
          </a:p>
        </p:txBody>
      </p:sp>
    </p:spTree>
    <p:extLst>
      <p:ext uri="{BB962C8B-B14F-4D97-AF65-F5344CB8AC3E}">
        <p14:creationId xmlns:p14="http://schemas.microsoft.com/office/powerpoint/2010/main" val="41932686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AEA074-24A7-4657-AE02-A51F68EA6AA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578475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77348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8D38747-4367-4BD2-8D51-C97E202738E2}" type="datetime1">
              <a:rPr lang="en-US" smtClean="0"/>
              <a:t>11/2/2025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1507467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C55A3C-5767-4844-A0A3-83778C2E5409}" type="datetime1">
              <a:rPr lang="en-US" smtClean="0"/>
              <a:t>11/2/2025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548654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763439"/>
            <a:ext cx="9590550" cy="133349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AE507A8-A5CF-4D38-AB86-7EDDA87A85D4}" type="datetime1">
              <a:rPr lang="en-US" smtClean="0"/>
              <a:t>11/2/2025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846401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126187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76450"/>
            <a:ext cx="4856841" cy="362267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0716" y="2076451"/>
            <a:ext cx="4856841" cy="3622672"/>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DFCD27C-8599-43EF-BA1D-14DDC1946E06}" type="datetime1">
              <a:rPr lang="en-US" smtClean="0"/>
              <a:t>11/2/2025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9882058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a:extLst>
              <a:ext uri="{FF2B5EF4-FFF2-40B4-BE49-F238E27FC236}">
                <a16:creationId xmlns:a16="http://schemas.microsoft.com/office/drawing/2014/main" id="{37B721FF-D609-4D98-9D19-CF75AA8A54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29200" cy="4099959"/>
          </a:xfrm>
          <a:prstGeom prst="rect">
            <a:avLst/>
          </a:prstGeom>
        </p:spPr>
      </p:pic>
      <p:pic>
        <p:nvPicPr>
          <p:cNvPr id="21" name="Picture 20" descr="Slate-V2-HD-compPhotoInset.png">
            <a:extLst>
              <a:ext uri="{FF2B5EF4-FFF2-40B4-BE49-F238E27FC236}">
                <a16:creationId xmlns:a16="http://schemas.microsoft.com/office/drawing/2014/main" id="{073936BD-C868-433F-8E84-D6DD8E640E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38357" y="1734506"/>
            <a:ext cx="5029200" cy="4099959"/>
          </a:xfrm>
          <a:prstGeom prst="rect">
            <a:avLst/>
          </a:prstGeom>
        </p:spPr>
      </p:pic>
      <p:sp>
        <p:nvSpPr>
          <p:cNvPr id="2" name="Title 1"/>
          <p:cNvSpPr>
            <a:spLocks noGrp="1"/>
          </p:cNvSpPr>
          <p:nvPr>
            <p:ph type="title"/>
          </p:nvPr>
        </p:nvSpPr>
        <p:spPr>
          <a:xfrm>
            <a:off x="913795" y="609600"/>
            <a:ext cx="10353762" cy="97045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46013" y="1855153"/>
            <a:ext cx="4764764" cy="69249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46013" y="2702103"/>
            <a:ext cx="4764764"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3166" y="1855152"/>
            <a:ext cx="4779582" cy="692495"/>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3167" y="2702103"/>
            <a:ext cx="4779581"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9343D99-809A-49C0-96E5-4250D0B498EE}" type="datetime1">
              <a:rPr lang="en-US" smtClean="0"/>
              <a:t>11/2/2025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351203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143DE9B-B678-4EFB-BB7D-A4370204A0B0}" type="datetime1">
              <a:rPr lang="en-US" smtClean="0"/>
              <a:t>11/2/2025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90940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8812DA-F765-4142-A6A3-A8ED7235E082}" type="datetime1">
              <a:rPr lang="en-US" smtClean="0"/>
              <a:t>11/2/2025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551302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8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0800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673351"/>
            <a:ext cx="3706889" cy="301625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E0277FD-7DE6-41D4-930D-AC99F5AFE54E}" type="datetime1">
              <a:rPr lang="en-US" smtClean="0"/>
              <a:t>11/2/2025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7935569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a:extLst>
              <a:ext uri="{FF2B5EF4-FFF2-40B4-BE49-F238E27FC236}">
                <a16:creationId xmlns:a16="http://schemas.microsoft.com/office/drawing/2014/main" id="{4D06E496-ACBA-4063-B4A1-C5C484EE5A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763701"/>
            <a:ext cx="5707899" cy="1675559"/>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73698" y="2679699"/>
            <a:ext cx="4588094" cy="3135695"/>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EA15526-7079-4B7B-987C-1B5FAE11A0FF}" type="datetime1">
              <a:rPr lang="en-US" smtClean="0"/>
              <a:t>11/2/2025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30567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a:extLst>
              <a:ext uri="{FF2B5EF4-FFF2-40B4-BE49-F238E27FC236}">
                <a16:creationId xmlns:a16="http://schemas.microsoft.com/office/drawing/2014/main" id="{CE39118B-B3AD-4BD4-BA22-DEFF4E76CE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247728"/>
            <a:ext cx="10353762" cy="543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1F1B079-7EF0-44EE-B798-BCC497C9F3B2}" type="datetime1">
              <a:rPr lang="en-US" smtClean="0"/>
              <a:t>11/2/2025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095022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normAutofit/>
          </a:bodyPr>
          <a:lstStyle>
            <a:lvl1pPr>
              <a:defRPr sz="40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8FF70A8-1D13-4657-95F0-A9EA54967B8D}" type="datetime1">
              <a:rPr lang="en-US" smtClean="0"/>
              <a:t>11/2/2025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53850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1EB90AC-71BD-4C7F-8ACA-7B3F18292E63}" type="datetime1">
              <a:rPr lang="en-US" smtClean="0"/>
              <a:t>11/2/2025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
        <p:nvSpPr>
          <p:cNvPr id="11" name="TextBox 10">
            <a:extLst>
              <a:ext uri="{FF2B5EF4-FFF2-40B4-BE49-F238E27FC236}">
                <a16:creationId xmlns:a16="http://schemas.microsoft.com/office/drawing/2014/main" id="{223F0D53-0705-41B7-8554-09D21E7807F9}"/>
              </a:ext>
            </a:extLst>
          </p:cNvPr>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a:extLst>
              <a:ext uri="{FF2B5EF4-FFF2-40B4-BE49-F238E27FC236}">
                <a16:creationId xmlns:a16="http://schemas.microsoft.com/office/drawing/2014/main" id="{C7F647CD-0F1A-4BB3-89E0-A74F1E1B098D}"/>
              </a:ext>
            </a:extLst>
          </p:cNvPr>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7752911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E6EFC2C-8905-46F0-B443-CE905B76BA01}" type="datetime1">
              <a:rPr lang="en-US" smtClean="0"/>
              <a:t>11/2/2025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450925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49"/>
            <a:ext cx="3300984" cy="764783"/>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768110"/>
            <a:ext cx="3300984" cy="302308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9079DC3-C9B5-499E-9140-0DC28B7074E2}" type="datetime1">
              <a:rPr lang="en-US" smtClean="0"/>
              <a:t>11/2/2025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326478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a:extLst>
              <a:ext uri="{FF2B5EF4-FFF2-40B4-BE49-F238E27FC236}">
                <a16:creationId xmlns:a16="http://schemas.microsoft.com/office/drawing/2014/main" id="{7E87C569-D426-4615-ADA7-B370EA9834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a:extLst>
              <a:ext uri="{FF2B5EF4-FFF2-40B4-BE49-F238E27FC236}">
                <a16:creationId xmlns:a16="http://schemas.microsoft.com/office/drawing/2014/main" id="{7B353ED4-7AD0-46C9-88ED-1A16B1433A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a:extLst>
              <a:ext uri="{FF2B5EF4-FFF2-40B4-BE49-F238E27FC236}">
                <a16:creationId xmlns:a16="http://schemas.microsoft.com/office/drawing/2014/main" id="{F561D985-AD57-459A-B3A6-EBF2960397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572443"/>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0BB33EA-E472-4D22-9C03-A9C14AA21CED}" type="datetime1">
              <a:rPr lang="en-US" smtClean="0"/>
              <a:t>11/2/2025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932546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125730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76450"/>
            <a:ext cx="10353762" cy="3714749"/>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6000749"/>
            <a:ext cx="2743200"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073ED0CC-082F-4160-86E5-0D6041F12778}" type="datetime1">
              <a:rPr lang="en-US" smtClean="0"/>
              <a:t>11/2/2025</a:t>
            </a:fld>
            <a:endParaRPr lang="en-US" dirty="0"/>
          </a:p>
        </p:txBody>
      </p:sp>
      <p:sp>
        <p:nvSpPr>
          <p:cNvPr id="5" name="Footer Placeholder 4"/>
          <p:cNvSpPr>
            <a:spLocks noGrp="1"/>
          </p:cNvSpPr>
          <p:nvPr>
            <p:ph type="ftr" sz="quarter" idx="3"/>
          </p:nvPr>
        </p:nvSpPr>
        <p:spPr>
          <a:xfrm>
            <a:off x="913795" y="6000749"/>
            <a:ext cx="6672865" cy="365125"/>
          </a:xfrm>
          <a:prstGeom prst="rect">
            <a:avLst/>
          </a:prstGeom>
        </p:spPr>
        <p:txBody>
          <a:bodyPr vert="horz" lIns="91440" tIns="45720" rIns="91440" bIns="45720" rtlCol="0" anchor="ctr"/>
          <a:lstStyle>
            <a:lvl1pPr algn="l">
              <a:defRPr sz="1100">
                <a:solidFill>
                  <a:schemeClr val="tx1">
                    <a:lumMod val="95000"/>
                  </a:schemeClr>
                </a:solidFill>
                <a:effectLst>
                  <a:outerShdw blurRad="50800" dist="38100" dir="2700000" algn="tl" rotWithShape="0">
                    <a:schemeClr val="bg1">
                      <a:alpha val="43000"/>
                    </a:schemeClr>
                  </a:outerShdw>
                </a:effectLst>
              </a:defRPr>
            </a:lvl1pPr>
          </a:lstStyle>
          <a:p>
            <a:endParaRPr lang="en-US" dirty="0"/>
          </a:p>
        </p:txBody>
      </p:sp>
      <p:sp>
        <p:nvSpPr>
          <p:cNvPr id="6" name="Slide Number Placeholder 5"/>
          <p:cNvSpPr>
            <a:spLocks noGrp="1"/>
          </p:cNvSpPr>
          <p:nvPr>
            <p:ph type="sldNum" sz="quarter" idx="4"/>
          </p:nvPr>
        </p:nvSpPr>
        <p:spPr>
          <a:xfrm>
            <a:off x="10514011" y="6000749"/>
            <a:ext cx="753545"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185897835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Lst>
  <p:hf sldNum="0" hdr="0" ftr="0" dt="0"/>
  <p:txStyles>
    <p:titleStyle>
      <a:lvl1pPr algn="ctr" defTabSz="457200" rtl="0" eaLnBrk="1" latinLnBrk="0" hangingPunct="1">
        <a:lnSpc>
          <a:spcPct val="90000"/>
        </a:lnSpc>
        <a:spcBef>
          <a:spcPct val="0"/>
        </a:spcBef>
        <a:buNone/>
        <a:defRPr sz="4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3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hemeOverride" Target="../theme/themeOverride1.xml"/><Relationship Id="rId6" Type="http://schemas.openxmlformats.org/officeDocument/2006/relationships/hyperlink" Target="https://github.com/vaishusubramani145/SmartCare" TargetMode="External"/><Relationship Id="rId5" Type="http://schemas.openxmlformats.org/officeDocument/2006/relationships/image" Target="../media/image6.jpeg"/><Relationship Id="rId4"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hemeOverride" Target="../theme/themeOverride2.xml"/><Relationship Id="rId6" Type="http://schemas.openxmlformats.org/officeDocument/2006/relationships/image" Target="../media/image8.png"/><Relationship Id="rId5" Type="http://schemas.openxmlformats.org/officeDocument/2006/relationships/image" Target="../media/image7.jpeg"/><Relationship Id="rId4" Type="http://schemas.openxmlformats.org/officeDocument/2006/relationships/image" Target="../media/image1.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inkbotdesign.com/brand-design-consistent/" TargetMode="External"/><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www.figma.com/make/Uhuysom3kCkAlx2AchN0Sd/Smart-Healthcare-Appointment-System?node-id=0-1&amp;p=f&amp;t=mNt8SCMixqPl6v08-0&amp;fullscreen=1"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4">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8A1C807-B9AD-4C9B-BF9F-60F03428998E}"/>
              </a:ex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a:stretch/>
        </p:blipFill>
        <p:spPr>
          <a:xfrm>
            <a:off x="-1" y="0"/>
            <a:ext cx="12192001" cy="6857990"/>
          </a:xfrm>
          <a:prstGeom prst="rect">
            <a:avLst/>
          </a:prstGeom>
        </p:spPr>
      </p:pic>
      <p:sp useBgFill="1">
        <p:nvSpPr>
          <p:cNvPr id="103" name="Freeform 5">
            <a:extLst>
              <a:ext uri="{FF2B5EF4-FFF2-40B4-BE49-F238E27FC236}">
                <a16:creationId xmlns:a16="http://schemas.microsoft.com/office/drawing/2014/main" id="{FE469E50-3893-4ED6-92BA-2985C32B0C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5400000">
            <a:off x="7131809" y="1385982"/>
            <a:ext cx="4031414" cy="4100418"/>
          </a:xfrm>
          <a:custGeom>
            <a:avLst/>
            <a:gdLst>
              <a:gd name="T0" fmla="*/ 1577 w 1601"/>
              <a:gd name="T1" fmla="*/ 0 h 696"/>
              <a:gd name="T2" fmla="*/ 833 w 1601"/>
              <a:gd name="T3" fmla="*/ 0 h 696"/>
              <a:gd name="T4" fmla="*/ 768 w 1601"/>
              <a:gd name="T5" fmla="*/ 0 h 696"/>
              <a:gd name="T6" fmla="*/ 24 w 1601"/>
              <a:gd name="T7" fmla="*/ 0 h 696"/>
              <a:gd name="T8" fmla="*/ 0 w 1601"/>
              <a:gd name="T9" fmla="*/ 27 h 696"/>
              <a:gd name="T10" fmla="*/ 0 w 1601"/>
              <a:gd name="T11" fmla="*/ 669 h 696"/>
              <a:gd name="T12" fmla="*/ 24 w 1601"/>
              <a:gd name="T13" fmla="*/ 696 h 696"/>
              <a:gd name="T14" fmla="*/ 768 w 1601"/>
              <a:gd name="T15" fmla="*/ 696 h 696"/>
              <a:gd name="T16" fmla="*/ 833 w 1601"/>
              <a:gd name="T17" fmla="*/ 696 h 696"/>
              <a:gd name="T18" fmla="*/ 1577 w 1601"/>
              <a:gd name="T19" fmla="*/ 696 h 696"/>
              <a:gd name="T20" fmla="*/ 1601 w 1601"/>
              <a:gd name="T21" fmla="*/ 669 h 696"/>
              <a:gd name="T22" fmla="*/ 1601 w 1601"/>
              <a:gd name="T23" fmla="*/ 27 h 696"/>
              <a:gd name="T24" fmla="*/ 1577 w 1601"/>
              <a:gd name="T25" fmla="*/ 0 h 6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01" h="696">
                <a:moveTo>
                  <a:pt x="1577" y="0"/>
                </a:moveTo>
                <a:cubicBezTo>
                  <a:pt x="833" y="0"/>
                  <a:pt x="833" y="0"/>
                  <a:pt x="833" y="0"/>
                </a:cubicBezTo>
                <a:cubicBezTo>
                  <a:pt x="768" y="0"/>
                  <a:pt x="768" y="0"/>
                  <a:pt x="768" y="0"/>
                </a:cubicBezTo>
                <a:cubicBezTo>
                  <a:pt x="24" y="0"/>
                  <a:pt x="24" y="0"/>
                  <a:pt x="24" y="0"/>
                </a:cubicBezTo>
                <a:cubicBezTo>
                  <a:pt x="11" y="0"/>
                  <a:pt x="0" y="12"/>
                  <a:pt x="0" y="27"/>
                </a:cubicBezTo>
                <a:cubicBezTo>
                  <a:pt x="0" y="669"/>
                  <a:pt x="0" y="669"/>
                  <a:pt x="0" y="669"/>
                </a:cubicBezTo>
                <a:cubicBezTo>
                  <a:pt x="0" y="684"/>
                  <a:pt x="11" y="696"/>
                  <a:pt x="24" y="696"/>
                </a:cubicBezTo>
                <a:cubicBezTo>
                  <a:pt x="768" y="696"/>
                  <a:pt x="768" y="696"/>
                  <a:pt x="768" y="696"/>
                </a:cubicBezTo>
                <a:cubicBezTo>
                  <a:pt x="833" y="696"/>
                  <a:pt x="833" y="696"/>
                  <a:pt x="833" y="696"/>
                </a:cubicBezTo>
                <a:cubicBezTo>
                  <a:pt x="1577" y="696"/>
                  <a:pt x="1577" y="696"/>
                  <a:pt x="1577" y="696"/>
                </a:cubicBezTo>
                <a:cubicBezTo>
                  <a:pt x="1590" y="696"/>
                  <a:pt x="1601" y="684"/>
                  <a:pt x="1601" y="669"/>
                </a:cubicBezTo>
                <a:cubicBezTo>
                  <a:pt x="1601" y="27"/>
                  <a:pt x="1601" y="27"/>
                  <a:pt x="1601" y="27"/>
                </a:cubicBezTo>
                <a:cubicBezTo>
                  <a:pt x="1601" y="12"/>
                  <a:pt x="1590" y="0"/>
                  <a:pt x="1577" y="0"/>
                </a:cubicBezTo>
                <a:close/>
              </a:path>
            </a:pathLst>
          </a:custGeom>
          <a:ln>
            <a:noFill/>
          </a:ln>
          <a:effectLst>
            <a:outerShdw blurRad="50800" dist="38100" dir="5400000" algn="tl" rotWithShape="0">
              <a:srgbClr val="000000">
                <a:alpha val="43000"/>
              </a:srgbClr>
            </a:outerShdw>
          </a:effectLst>
          <a:extLst>
            <a:ext uri="{91240B29-F687-4f45-9708-019B960494DF}">
              <a14:hiddenLine xmlns:a16="http://schemas.microsoft.com/office/drawing/2014/main" xmlns:p14="http://schemas.microsoft.com/office/powerpoint/2010/main"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oudy Old Style"/>
              <a:ea typeface="+mn-ea"/>
              <a:cs typeface="+mn-cs"/>
            </a:endParaRPr>
          </a:p>
        </p:txBody>
      </p:sp>
      <p:sp>
        <p:nvSpPr>
          <p:cNvPr id="2" name="Title 1">
            <a:extLst>
              <a:ext uri="{FF2B5EF4-FFF2-40B4-BE49-F238E27FC236}">
                <a16:creationId xmlns:a16="http://schemas.microsoft.com/office/drawing/2014/main" id="{0D1F047C-C727-42A7-85C5-68C5AA1B1A93}"/>
              </a:ext>
            </a:extLst>
          </p:cNvPr>
          <p:cNvSpPr>
            <a:spLocks noGrp="1"/>
          </p:cNvSpPr>
          <p:nvPr>
            <p:ph type="ctrTitle"/>
          </p:nvPr>
        </p:nvSpPr>
        <p:spPr>
          <a:xfrm>
            <a:off x="7389962" y="1673524"/>
            <a:ext cx="3485073" cy="2420504"/>
          </a:xfrm>
        </p:spPr>
        <p:txBody>
          <a:bodyPr>
            <a:normAutofit/>
          </a:bodyPr>
          <a:lstStyle/>
          <a:p>
            <a:pPr algn="l"/>
            <a:r>
              <a:rPr lang="en-US" sz="4000" dirty="0"/>
              <a:t>Smart Healthcare Appointment System</a:t>
            </a:r>
          </a:p>
        </p:txBody>
      </p:sp>
      <p:sp>
        <p:nvSpPr>
          <p:cNvPr id="3" name="Subtitle 2">
            <a:extLst>
              <a:ext uri="{FF2B5EF4-FFF2-40B4-BE49-F238E27FC236}">
                <a16:creationId xmlns:a16="http://schemas.microsoft.com/office/drawing/2014/main" id="{DB93FB3F-A8D4-46D3-A1C6-C79C64563729}"/>
              </a:ext>
            </a:extLst>
          </p:cNvPr>
          <p:cNvSpPr>
            <a:spLocks noGrp="1"/>
          </p:cNvSpPr>
          <p:nvPr>
            <p:ph type="subTitle" idx="1"/>
          </p:nvPr>
        </p:nvSpPr>
        <p:spPr>
          <a:xfrm>
            <a:off x="7389965" y="4157933"/>
            <a:ext cx="3485072" cy="1026544"/>
          </a:xfrm>
        </p:spPr>
        <p:txBody>
          <a:bodyPr>
            <a:normAutofit/>
          </a:bodyPr>
          <a:lstStyle/>
          <a:p>
            <a:pPr algn="l"/>
            <a:r>
              <a:rPr lang="en-US" dirty="0">
                <a:solidFill>
                  <a:srgbClr val="00B050"/>
                </a:solidFill>
              </a:rPr>
              <a:t>A healthier world starts with smarter systems</a:t>
            </a:r>
            <a:endParaRPr lang="en-US" sz="2300" dirty="0">
              <a:solidFill>
                <a:srgbClr val="00B050"/>
              </a:solidFill>
            </a:endParaRPr>
          </a:p>
        </p:txBody>
      </p:sp>
      <p:sp>
        <p:nvSpPr>
          <p:cNvPr id="4" name="TextBox 3">
            <a:extLst>
              <a:ext uri="{FF2B5EF4-FFF2-40B4-BE49-F238E27FC236}">
                <a16:creationId xmlns:a16="http://schemas.microsoft.com/office/drawing/2014/main" id="{39549890-EC50-63D2-787D-3BC78EBEAF55}"/>
              </a:ext>
            </a:extLst>
          </p:cNvPr>
          <p:cNvSpPr txBox="1"/>
          <p:nvPr/>
        </p:nvSpPr>
        <p:spPr>
          <a:xfrm>
            <a:off x="6350466" y="5964572"/>
            <a:ext cx="5310231" cy="369332"/>
          </a:xfrm>
          <a:prstGeom prst="rect">
            <a:avLst/>
          </a:prstGeom>
          <a:noFill/>
        </p:spPr>
        <p:txBody>
          <a:bodyPr wrap="square" rtlCol="0">
            <a:spAutoFit/>
          </a:bodyPr>
          <a:lstStyle/>
          <a:p>
            <a:r>
              <a:rPr lang="en-IN" dirty="0">
                <a:solidFill>
                  <a:srgbClr val="0070C0"/>
                </a:solidFill>
                <a:hlinkClick r:id="rId6"/>
              </a:rPr>
              <a:t>https://github.com/vaishusubramani145/SmartCare</a:t>
            </a:r>
            <a:endParaRPr lang="en-IN" dirty="0">
              <a:solidFill>
                <a:srgbClr val="0070C0"/>
              </a:solidFill>
            </a:endParaRPr>
          </a:p>
        </p:txBody>
      </p:sp>
      <p:sp>
        <p:nvSpPr>
          <p:cNvPr id="6" name="TextBox 5">
            <a:extLst>
              <a:ext uri="{FF2B5EF4-FFF2-40B4-BE49-F238E27FC236}">
                <a16:creationId xmlns:a16="http://schemas.microsoft.com/office/drawing/2014/main" id="{114BF399-FB61-E5D2-866D-DED3F17D9C16}"/>
              </a:ext>
            </a:extLst>
          </p:cNvPr>
          <p:cNvSpPr txBox="1"/>
          <p:nvPr/>
        </p:nvSpPr>
        <p:spPr>
          <a:xfrm>
            <a:off x="4714613" y="5964572"/>
            <a:ext cx="2605141" cy="369332"/>
          </a:xfrm>
          <a:prstGeom prst="rect">
            <a:avLst/>
          </a:prstGeom>
          <a:noFill/>
        </p:spPr>
        <p:txBody>
          <a:bodyPr wrap="square" rtlCol="0">
            <a:spAutoFit/>
          </a:bodyPr>
          <a:lstStyle/>
          <a:p>
            <a:r>
              <a:rPr lang="en-IN" dirty="0">
                <a:highlight>
                  <a:srgbClr val="000000"/>
                </a:highlight>
              </a:rPr>
              <a:t>GITHUB LINK:</a:t>
            </a:r>
          </a:p>
        </p:txBody>
      </p:sp>
    </p:spTree>
    <p:extLst>
      <p:ext uri="{BB962C8B-B14F-4D97-AF65-F5344CB8AC3E}">
        <p14:creationId xmlns:p14="http://schemas.microsoft.com/office/powerpoint/2010/main" val="41678842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4">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sp useBgFill="1">
        <p:nvSpPr>
          <p:cNvPr id="55" name="Rectangle 54">
            <a:extLst>
              <a:ext uri="{FF2B5EF4-FFF2-40B4-BE49-F238E27FC236}">
                <a16:creationId xmlns:a16="http://schemas.microsoft.com/office/drawing/2014/main" id="{0EF2A0DA-AE81-4A45-972E-646AC2870C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oudy Old Style"/>
              <a:ea typeface="+mn-ea"/>
              <a:cs typeface="+mn-cs"/>
            </a:endParaRPr>
          </a:p>
        </p:txBody>
      </p:sp>
      <p:pic>
        <p:nvPicPr>
          <p:cNvPr id="3" name="Picture 2">
            <a:extLst>
              <a:ext uri="{FF2B5EF4-FFF2-40B4-BE49-F238E27FC236}">
                <a16:creationId xmlns:a16="http://schemas.microsoft.com/office/drawing/2014/main" id="{72B2D6DE-C9B5-4678-91EF-77E85F2350DA}"/>
              </a:ex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b="-1"/>
          <a:stretch/>
        </p:blipFill>
        <p:spPr>
          <a:xfrm>
            <a:off x="-8622" y="10"/>
            <a:ext cx="6096000" cy="6857990"/>
          </a:xfrm>
          <a:prstGeom prst="rect">
            <a:avLst/>
          </a:prstGeom>
        </p:spPr>
      </p:pic>
      <p:pic>
        <p:nvPicPr>
          <p:cNvPr id="57" name="Picture 56">
            <a:extLst>
              <a:ext uri="{FF2B5EF4-FFF2-40B4-BE49-F238E27FC236}">
                <a16:creationId xmlns:a16="http://schemas.microsoft.com/office/drawing/2014/main" id="{B536FA4E-0152-4E27-91DA-0FC22D1846B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a:stretch/>
        </p:blipFill>
        <p:spPr>
          <a:xfrm>
            <a:off x="6257026" y="1"/>
            <a:ext cx="5934973" cy="6858000"/>
          </a:xfrm>
          <a:prstGeom prst="rect">
            <a:avLst/>
          </a:prstGeom>
        </p:spPr>
      </p:pic>
      <p:sp>
        <p:nvSpPr>
          <p:cNvPr id="2" name="Title 1">
            <a:extLst>
              <a:ext uri="{FF2B5EF4-FFF2-40B4-BE49-F238E27FC236}">
                <a16:creationId xmlns:a16="http://schemas.microsoft.com/office/drawing/2014/main" id="{89559F60-4CE1-4E2F-86EA-1B60679F1F4A}"/>
              </a:ext>
            </a:extLst>
          </p:cNvPr>
          <p:cNvSpPr>
            <a:spLocks noGrp="1"/>
          </p:cNvSpPr>
          <p:nvPr>
            <p:ph type="title"/>
          </p:nvPr>
        </p:nvSpPr>
        <p:spPr>
          <a:xfrm>
            <a:off x="6408880" y="381000"/>
            <a:ext cx="4538124" cy="970450"/>
          </a:xfrm>
        </p:spPr>
        <p:txBody>
          <a:bodyPr anchor="b">
            <a:normAutofit/>
          </a:bodyPr>
          <a:lstStyle/>
          <a:p>
            <a:pPr algn="l"/>
            <a:r>
              <a:rPr lang="en-US" sz="4000" dirty="0"/>
              <a:t>TITLE AGENDAS	</a:t>
            </a:r>
          </a:p>
        </p:txBody>
      </p:sp>
      <p:sp>
        <p:nvSpPr>
          <p:cNvPr id="24" name="Content Placeholder 2">
            <a:extLst>
              <a:ext uri="{FF2B5EF4-FFF2-40B4-BE49-F238E27FC236}">
                <a16:creationId xmlns:a16="http://schemas.microsoft.com/office/drawing/2014/main" id="{F260476B-CCA6-412B-A9C5-399C34AE6F05}"/>
              </a:ext>
            </a:extLst>
          </p:cNvPr>
          <p:cNvSpPr>
            <a:spLocks noGrp="1"/>
          </p:cNvSpPr>
          <p:nvPr>
            <p:ph idx="1"/>
          </p:nvPr>
        </p:nvSpPr>
        <p:spPr>
          <a:xfrm>
            <a:off x="7022714" y="1351450"/>
            <a:ext cx="4403596" cy="4914157"/>
          </a:xfrm>
        </p:spPr>
        <p:txBody>
          <a:bodyPr anchor="t">
            <a:normAutofit/>
          </a:bodyPr>
          <a:lstStyle/>
          <a:p>
            <a:r>
              <a:rPr lang="en-US" sz="2400" dirty="0"/>
              <a:t>Introduction</a:t>
            </a:r>
          </a:p>
          <a:p>
            <a:r>
              <a:rPr lang="en-US" sz="2400" dirty="0"/>
              <a:t>Problem Statement</a:t>
            </a:r>
          </a:p>
          <a:p>
            <a:r>
              <a:rPr lang="en-US" sz="2400" dirty="0"/>
              <a:t>Objectives</a:t>
            </a:r>
          </a:p>
          <a:p>
            <a:r>
              <a:rPr lang="en-US" sz="2400" dirty="0"/>
              <a:t>Why its matter know?</a:t>
            </a:r>
          </a:p>
          <a:p>
            <a:r>
              <a:rPr lang="en-US" sz="2400" dirty="0"/>
              <a:t>Tools and Technologies</a:t>
            </a:r>
          </a:p>
          <a:p>
            <a:r>
              <a:rPr lang="en-US" sz="2400" dirty="0"/>
              <a:t>Design Process</a:t>
            </a:r>
          </a:p>
          <a:p>
            <a:r>
              <a:rPr lang="en-US" sz="2400" dirty="0"/>
              <a:t>Expected Outcome</a:t>
            </a:r>
          </a:p>
          <a:p>
            <a:r>
              <a:rPr lang="en-US" sz="2400" dirty="0"/>
              <a:t>conclusion</a:t>
            </a:r>
          </a:p>
          <a:p>
            <a:endParaRPr lang="en-US" sz="2400" dirty="0"/>
          </a:p>
        </p:txBody>
      </p:sp>
    </p:spTree>
    <p:extLst>
      <p:ext uri="{BB962C8B-B14F-4D97-AF65-F5344CB8AC3E}">
        <p14:creationId xmlns:p14="http://schemas.microsoft.com/office/powerpoint/2010/main" val="32202356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0B53F-8A48-721D-2566-A95583857430}"/>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A27F4302-1B30-2801-D734-1C2265D20BF6}"/>
              </a:ext>
            </a:extLst>
          </p:cNvPr>
          <p:cNvSpPr>
            <a:spLocks noGrp="1"/>
          </p:cNvSpPr>
          <p:nvPr>
            <p:ph idx="1"/>
          </p:nvPr>
        </p:nvSpPr>
        <p:spPr/>
        <p:txBody>
          <a:bodyPr/>
          <a:lstStyle/>
          <a:p>
            <a:r>
              <a:rPr lang="en-US" dirty="0"/>
              <a:t>The Smart Healthcare Appointment System is an online-based system designed to ease the process of managing hospital appointments.</a:t>
            </a:r>
          </a:p>
          <a:p>
            <a:r>
              <a:rPr lang="en-US" dirty="0"/>
              <a:t>It connects patients, doctors, and administrators in one secure system.</a:t>
            </a:r>
          </a:p>
          <a:p>
            <a:r>
              <a:rPr lang="en-US" dirty="0"/>
              <a:t>Patients can easily book appointments, access their prescriptions, and join teleconsultations online.</a:t>
            </a:r>
          </a:p>
          <a:p>
            <a:r>
              <a:rPr lang="en-US" dirty="0"/>
              <a:t>Doctors will be able to manage schedules and records with real-time updates.</a:t>
            </a:r>
          </a:p>
          <a:p>
            <a:r>
              <a:rPr lang="en-US" dirty="0"/>
              <a:t>This system provides faster, safer, and smarter health care to all.</a:t>
            </a:r>
          </a:p>
        </p:txBody>
      </p:sp>
    </p:spTree>
    <p:extLst>
      <p:ext uri="{BB962C8B-B14F-4D97-AF65-F5344CB8AC3E}">
        <p14:creationId xmlns:p14="http://schemas.microsoft.com/office/powerpoint/2010/main" val="38116614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426D2-3453-14EC-47C8-F89AB42B7937}"/>
              </a:ext>
            </a:extLst>
          </p:cNvPr>
          <p:cNvSpPr>
            <a:spLocks noGrp="1"/>
          </p:cNvSpPr>
          <p:nvPr>
            <p:ph type="title"/>
          </p:nvPr>
        </p:nvSpPr>
        <p:spPr/>
        <p:txBody>
          <a:bodyPr/>
          <a:lstStyle/>
          <a:p>
            <a:r>
              <a:rPr lang="en-US" dirty="0"/>
              <a:t>PROBLEM STATEMENT:</a:t>
            </a:r>
          </a:p>
        </p:txBody>
      </p:sp>
      <p:sp>
        <p:nvSpPr>
          <p:cNvPr id="3" name="Content Placeholder 2">
            <a:extLst>
              <a:ext uri="{FF2B5EF4-FFF2-40B4-BE49-F238E27FC236}">
                <a16:creationId xmlns:a16="http://schemas.microsoft.com/office/drawing/2014/main" id="{B35F8252-1654-EA01-A8EB-A16CE93DDAA4}"/>
              </a:ext>
            </a:extLst>
          </p:cNvPr>
          <p:cNvSpPr>
            <a:spLocks noGrp="1"/>
          </p:cNvSpPr>
          <p:nvPr>
            <p:ph idx="1"/>
          </p:nvPr>
        </p:nvSpPr>
        <p:spPr/>
        <p:txBody>
          <a:bodyPr>
            <a:normAutofit fontScale="85000" lnSpcReduction="10000"/>
          </a:bodyPr>
          <a:lstStyle/>
          <a:p>
            <a:r>
              <a:rPr lang="en-US" dirty="0"/>
              <a:t>With the present healthcare system, patients have to face lengthy waiting times, mismanagement of appointments, and troubles with accessing their medical records.</a:t>
            </a:r>
          </a:p>
          <a:p>
            <a:r>
              <a:rPr lang="en-US" dirty="0"/>
              <a:t>Communication among patients, doctors, and administrative staff in hospitals is often fragmented and disorganized.</a:t>
            </a:r>
          </a:p>
          <a:p>
            <a:r>
              <a:rPr lang="en-US" dirty="0"/>
              <a:t>Many clinical facilities still use manual or semi-digital processes that result in errors and inefficiency.</a:t>
            </a:r>
          </a:p>
          <a:p>
            <a:r>
              <a:rPr lang="en-US" dirty="0"/>
              <a:t>There is a lack of an integrated system that manages appointments, prescriptions, and teleconsultations in one place.</a:t>
            </a:r>
          </a:p>
          <a:p>
            <a:r>
              <a:rPr lang="en-US" dirty="0"/>
              <a:t>Therefore, a smart healthcare appointment system will be required to smoothen the scheduling, improve communication, and securely provide centralized access to healthcare services.</a:t>
            </a:r>
          </a:p>
        </p:txBody>
      </p:sp>
    </p:spTree>
    <p:extLst>
      <p:ext uri="{BB962C8B-B14F-4D97-AF65-F5344CB8AC3E}">
        <p14:creationId xmlns:p14="http://schemas.microsoft.com/office/powerpoint/2010/main" val="11352320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90C95-DE4A-51B7-268C-74565963990B}"/>
              </a:ext>
            </a:extLst>
          </p:cNvPr>
          <p:cNvSpPr>
            <a:spLocks noGrp="1"/>
          </p:cNvSpPr>
          <p:nvPr>
            <p:ph type="title"/>
          </p:nvPr>
        </p:nvSpPr>
        <p:spPr/>
        <p:txBody>
          <a:bodyPr/>
          <a:lstStyle/>
          <a:p>
            <a:r>
              <a:rPr lang="en-US" dirty="0"/>
              <a:t>OBJECTIVE:</a:t>
            </a:r>
          </a:p>
        </p:txBody>
      </p:sp>
      <p:sp>
        <p:nvSpPr>
          <p:cNvPr id="3" name="Content Placeholder 2">
            <a:extLst>
              <a:ext uri="{FF2B5EF4-FFF2-40B4-BE49-F238E27FC236}">
                <a16:creationId xmlns:a16="http://schemas.microsoft.com/office/drawing/2014/main" id="{C2606DBC-D48E-E0D8-C450-8C7F17241458}"/>
              </a:ext>
            </a:extLst>
          </p:cNvPr>
          <p:cNvSpPr>
            <a:spLocks noGrp="1"/>
          </p:cNvSpPr>
          <p:nvPr>
            <p:ph idx="1"/>
          </p:nvPr>
        </p:nvSpPr>
        <p:spPr/>
        <p:txBody>
          <a:bodyPr>
            <a:normAutofit fontScale="92500" lnSpcReduction="10000"/>
          </a:bodyPr>
          <a:lstStyle/>
          <a:p>
            <a:r>
              <a:rPr lang="en-US" dirty="0"/>
              <a:t>To develop a centralized healthcare platform that manages appointments, prescriptions, and medical reports efficiently.</a:t>
            </a:r>
          </a:p>
          <a:p>
            <a:r>
              <a:rPr lang="en-US" dirty="0"/>
              <a:t>To design user-friendly interfaces for patients, doctors, and administrators with easy navigation.</a:t>
            </a:r>
          </a:p>
          <a:p>
            <a:r>
              <a:rPr lang="en-US" dirty="0"/>
              <a:t>To integrate teleconsultation and reminder features for better accessibility and time management.</a:t>
            </a:r>
          </a:p>
          <a:p>
            <a:r>
              <a:rPr lang="en-US" dirty="0"/>
              <a:t>To ensure data privacy and security by following healthcare compliance standards.</a:t>
            </a:r>
          </a:p>
          <a:p>
            <a:r>
              <a:rPr lang="en-US" dirty="0"/>
              <a:t>To improve the overall communication and coordination between patients and healthcare providers.</a:t>
            </a:r>
          </a:p>
        </p:txBody>
      </p:sp>
    </p:spTree>
    <p:extLst>
      <p:ext uri="{BB962C8B-B14F-4D97-AF65-F5344CB8AC3E}">
        <p14:creationId xmlns:p14="http://schemas.microsoft.com/office/powerpoint/2010/main" val="13162996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08985-4541-F990-377D-CAD922D69A36}"/>
              </a:ext>
            </a:extLst>
          </p:cNvPr>
          <p:cNvSpPr>
            <a:spLocks noGrp="1"/>
          </p:cNvSpPr>
          <p:nvPr>
            <p:ph type="title"/>
          </p:nvPr>
        </p:nvSpPr>
        <p:spPr/>
        <p:txBody>
          <a:bodyPr/>
          <a:lstStyle/>
          <a:p>
            <a:r>
              <a:rPr lang="en-US" dirty="0"/>
              <a:t>WHY IT’S MATTER KNOW?</a:t>
            </a:r>
          </a:p>
        </p:txBody>
      </p:sp>
      <p:sp>
        <p:nvSpPr>
          <p:cNvPr id="3" name="Content Placeholder 2">
            <a:extLst>
              <a:ext uri="{FF2B5EF4-FFF2-40B4-BE49-F238E27FC236}">
                <a16:creationId xmlns:a16="http://schemas.microsoft.com/office/drawing/2014/main" id="{5C408FA3-4806-CF1B-28D1-D0C49932BEB8}"/>
              </a:ext>
            </a:extLst>
          </p:cNvPr>
          <p:cNvSpPr>
            <a:spLocks noGrp="1"/>
          </p:cNvSpPr>
          <p:nvPr>
            <p:ph idx="1"/>
          </p:nvPr>
        </p:nvSpPr>
        <p:spPr/>
        <p:txBody>
          <a:bodyPr>
            <a:normAutofit fontScale="92500" lnSpcReduction="10000"/>
          </a:bodyPr>
          <a:lstStyle/>
          <a:p>
            <a:r>
              <a:rPr lang="en-US" dirty="0"/>
              <a:t>People in this digital era will seek health care services that are easy and quick to access.</a:t>
            </a:r>
          </a:p>
          <a:p>
            <a:r>
              <a:rPr lang="en-US" dirty="0"/>
              <a:t>But many patients still encounter delays, confusion, and poor coordination in booking appointments or consulting doctors.</a:t>
            </a:r>
          </a:p>
          <a:p>
            <a:r>
              <a:rPr lang="en-US" dirty="0"/>
              <a:t>A Smart Healthcare Appointment System helps reduce waiting time, increases the efficiency of the hospital, and improves patient satisfaction.</a:t>
            </a:r>
          </a:p>
          <a:p>
            <a:r>
              <a:rPr lang="en-US" dirty="0"/>
              <a:t>This ensures medical data, prescriptions, and reports are available anytime and anywhere, securely and with ease.</a:t>
            </a:r>
          </a:p>
          <a:p>
            <a:r>
              <a:rPr lang="en-US" dirty="0"/>
              <a:t>This system is designed to enable superior health outcomes and modernize the whole care experience, all by making healthcare smarter and more connected.</a:t>
            </a:r>
          </a:p>
        </p:txBody>
      </p:sp>
    </p:spTree>
    <p:extLst>
      <p:ext uri="{BB962C8B-B14F-4D97-AF65-F5344CB8AC3E}">
        <p14:creationId xmlns:p14="http://schemas.microsoft.com/office/powerpoint/2010/main" val="18667684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BE2AA1-5E90-855A-F707-74B47D2A0CF9}"/>
              </a:ext>
            </a:extLst>
          </p:cNvPr>
          <p:cNvSpPr>
            <a:spLocks noGrp="1"/>
          </p:cNvSpPr>
          <p:nvPr>
            <p:ph type="title"/>
          </p:nvPr>
        </p:nvSpPr>
        <p:spPr/>
        <p:txBody>
          <a:bodyPr/>
          <a:lstStyle/>
          <a:p>
            <a:r>
              <a:rPr lang="en-US" dirty="0"/>
              <a:t>TOOLS AND TECHNOLOGIES:</a:t>
            </a:r>
          </a:p>
        </p:txBody>
      </p:sp>
      <p:sp>
        <p:nvSpPr>
          <p:cNvPr id="3" name="Content Placeholder 2">
            <a:extLst>
              <a:ext uri="{FF2B5EF4-FFF2-40B4-BE49-F238E27FC236}">
                <a16:creationId xmlns:a16="http://schemas.microsoft.com/office/drawing/2014/main" id="{1F66EB20-A3BF-34EB-5DE2-CFA96C006F42}"/>
              </a:ext>
            </a:extLst>
          </p:cNvPr>
          <p:cNvSpPr>
            <a:spLocks noGrp="1"/>
          </p:cNvSpPr>
          <p:nvPr>
            <p:ph idx="1"/>
          </p:nvPr>
        </p:nvSpPr>
        <p:spPr>
          <a:xfrm>
            <a:off x="913796" y="2076450"/>
            <a:ext cx="5762308" cy="3714749"/>
          </a:xfrm>
        </p:spPr>
        <p:txBody>
          <a:bodyPr/>
          <a:lstStyle/>
          <a:p>
            <a:r>
              <a:rPr lang="en-US" dirty="0"/>
              <a:t>TOOLS: </a:t>
            </a:r>
          </a:p>
          <a:p>
            <a:endParaRPr lang="en-US" dirty="0"/>
          </a:p>
        </p:txBody>
      </p:sp>
      <p:sp>
        <p:nvSpPr>
          <p:cNvPr id="5" name="Rectangle 2">
            <a:extLst>
              <a:ext uri="{FF2B5EF4-FFF2-40B4-BE49-F238E27FC236}">
                <a16:creationId xmlns:a16="http://schemas.microsoft.com/office/drawing/2014/main" id="{26616837-2D25-EBF7-5FAA-6E1FE70DE6B7}"/>
              </a:ext>
            </a:extLst>
          </p:cNvPr>
          <p:cNvSpPr>
            <a:spLocks noChangeArrowheads="1"/>
          </p:cNvSpPr>
          <p:nvPr/>
        </p:nvSpPr>
        <p:spPr bwMode="auto">
          <a:xfrm>
            <a:off x="913795" y="2502663"/>
            <a:ext cx="5477173"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Figma</a:t>
            </a:r>
            <a:r>
              <a:rPr kumimoji="0" lang="en-US" altLang="en-US" sz="1800" b="0" i="0" u="none" strike="noStrike" cap="none" normalizeH="0" baseline="0" dirty="0">
                <a:ln>
                  <a:noFill/>
                </a:ln>
                <a:solidFill>
                  <a:schemeClr val="tx1"/>
                </a:solidFill>
                <a:effectLst/>
                <a:latin typeface="Arial" panose="020B0604020202020204" pitchFamily="34" charset="0"/>
              </a:rPr>
              <a:t> – For designing user interfaces and creating interactive prototypes.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Miro</a:t>
            </a:r>
            <a:r>
              <a:rPr kumimoji="0" lang="en-US" altLang="en-US" sz="1800" b="0" i="0" u="none" strike="noStrike" cap="none" normalizeH="0" baseline="0" dirty="0">
                <a:ln>
                  <a:noFill/>
                </a:ln>
                <a:solidFill>
                  <a:schemeClr val="tx1"/>
                </a:solidFill>
                <a:effectLst/>
                <a:latin typeface="Arial" panose="020B0604020202020204" pitchFamily="34" charset="0"/>
              </a:rPr>
              <a:t> – For user journey mapping and brainstorming ideas.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Adobe XD</a:t>
            </a:r>
            <a:r>
              <a:rPr kumimoji="0" lang="en-US" altLang="en-US" sz="1800" b="0" i="0" u="none" strike="noStrike" cap="none" normalizeH="0" baseline="0" dirty="0">
                <a:ln>
                  <a:noFill/>
                </a:ln>
                <a:solidFill>
                  <a:schemeClr val="tx1"/>
                </a:solidFill>
                <a:effectLst/>
                <a:latin typeface="Arial" panose="020B0604020202020204" pitchFamily="34" charset="0"/>
              </a:rPr>
              <a:t> – For designing alternate mockups and visual layouts.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a:ln>
                  <a:noFill/>
                </a:ln>
                <a:solidFill>
                  <a:schemeClr val="tx1"/>
                </a:solidFill>
                <a:effectLst/>
                <a:latin typeface="Arial" panose="020B0604020202020204" pitchFamily="34" charset="0"/>
              </a:rPr>
              <a:t>Useberry</a:t>
            </a:r>
            <a:r>
              <a:rPr kumimoji="0" lang="en-US" altLang="en-US" sz="1800" b="0" i="0" u="none" strike="noStrike" cap="none" normalizeH="0" baseline="0" dirty="0">
                <a:ln>
                  <a:noFill/>
                </a:ln>
                <a:solidFill>
                  <a:schemeClr val="tx1"/>
                </a:solidFill>
                <a:effectLst/>
                <a:latin typeface="Arial" panose="020B0604020202020204" pitchFamily="34" charset="0"/>
              </a:rPr>
              <a:t> – For usability testing and gathering user feedback.</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Google Sheets</a:t>
            </a:r>
            <a:r>
              <a:rPr kumimoji="0" lang="en-US" altLang="en-US" sz="1800" b="0" i="0" u="none" strike="noStrike" cap="none" normalizeH="0" baseline="0" dirty="0">
                <a:ln>
                  <a:noFill/>
                </a:ln>
                <a:solidFill>
                  <a:schemeClr val="tx1"/>
                </a:solidFill>
                <a:effectLst/>
                <a:latin typeface="Arial" panose="020B0604020202020204" pitchFamily="34" charset="0"/>
              </a:rPr>
              <a:t> – For data mapping, content organization, and project tracking</a:t>
            </a:r>
          </a:p>
        </p:txBody>
      </p:sp>
      <p:sp>
        <p:nvSpPr>
          <p:cNvPr id="6" name="TextBox 5">
            <a:extLst>
              <a:ext uri="{FF2B5EF4-FFF2-40B4-BE49-F238E27FC236}">
                <a16:creationId xmlns:a16="http://schemas.microsoft.com/office/drawing/2014/main" id="{D0ADDE31-9A88-6BC4-01A4-F4A07D38C4F4}"/>
              </a:ext>
            </a:extLst>
          </p:cNvPr>
          <p:cNvSpPr txBox="1"/>
          <p:nvPr/>
        </p:nvSpPr>
        <p:spPr>
          <a:xfrm>
            <a:off x="6676104" y="2317997"/>
            <a:ext cx="5309419" cy="3416320"/>
          </a:xfrm>
          <a:prstGeom prst="rect">
            <a:avLst/>
          </a:prstGeom>
          <a:noFill/>
        </p:spPr>
        <p:txBody>
          <a:bodyPr wrap="square" rtlCol="0">
            <a:spAutoFit/>
          </a:bodyPr>
          <a:lstStyle/>
          <a:p>
            <a:r>
              <a:rPr lang="en-US" dirty="0"/>
              <a:t>TECHNOLOGIES:</a:t>
            </a:r>
          </a:p>
          <a:p>
            <a:pPr marL="285750" indent="-285750">
              <a:buFont typeface="Arial" panose="020B0604020202020204" pitchFamily="34" charset="0"/>
              <a:buChar char="•"/>
            </a:pPr>
            <a:r>
              <a:rPr lang="en-US" b="1" dirty="0"/>
              <a:t>Frontend:</a:t>
            </a:r>
            <a:r>
              <a:rPr lang="en-US" dirty="0"/>
              <a:t> HTML, CSS, JavaScript, React.js (for building responsive interfaces).</a:t>
            </a:r>
          </a:p>
          <a:p>
            <a:pPr marL="285750" indent="-285750">
              <a:buFont typeface="Arial" panose="020B0604020202020204" pitchFamily="34" charset="0"/>
              <a:buChar char="•"/>
            </a:pPr>
            <a:r>
              <a:rPr lang="en-US" b="1" dirty="0"/>
              <a:t>Backend:</a:t>
            </a:r>
            <a:r>
              <a:rPr lang="en-US" dirty="0"/>
              <a:t> Python (Flask/Django) or Node.js (for managing server-side operations).</a:t>
            </a:r>
          </a:p>
          <a:p>
            <a:pPr marL="285750" indent="-285750">
              <a:buFont typeface="Arial" panose="020B0604020202020204" pitchFamily="34" charset="0"/>
              <a:buChar char="•"/>
            </a:pPr>
            <a:r>
              <a:rPr lang="en-US" b="1" dirty="0"/>
              <a:t>Database:</a:t>
            </a:r>
            <a:r>
              <a:rPr lang="en-US" dirty="0"/>
              <a:t> MySQL or MongoDB (for storing user, appointment, and report data).</a:t>
            </a:r>
          </a:p>
          <a:p>
            <a:pPr marL="285750" indent="-285750">
              <a:buFont typeface="Arial" panose="020B0604020202020204" pitchFamily="34" charset="0"/>
              <a:buChar char="•"/>
            </a:pPr>
            <a:r>
              <a:rPr lang="en-US" b="1" dirty="0"/>
              <a:t>APIs:</a:t>
            </a:r>
            <a:r>
              <a:rPr lang="en-US" dirty="0"/>
              <a:t> Integration for teleconsultation, reminders, and notifications.</a:t>
            </a:r>
          </a:p>
          <a:p>
            <a:pPr marL="285750" indent="-285750">
              <a:buFont typeface="Arial" panose="020B0604020202020204" pitchFamily="34" charset="0"/>
              <a:buChar char="•"/>
            </a:pPr>
            <a:r>
              <a:rPr lang="en-US" b="1" dirty="0"/>
              <a:t>Security:</a:t>
            </a:r>
            <a:r>
              <a:rPr lang="en-US" dirty="0"/>
              <a:t> Data encryption and HIPAA-compliant privacy measures.</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12441405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A914B8-C2F4-3D0F-9E25-4028D649F7FA}"/>
              </a:ext>
            </a:extLst>
          </p:cNvPr>
          <p:cNvSpPr>
            <a:spLocks noGrp="1"/>
          </p:cNvSpPr>
          <p:nvPr>
            <p:ph type="title"/>
          </p:nvPr>
        </p:nvSpPr>
        <p:spPr>
          <a:xfrm>
            <a:off x="234287" y="442615"/>
            <a:ext cx="10353762" cy="1257300"/>
          </a:xfrm>
        </p:spPr>
        <p:txBody>
          <a:bodyPr/>
          <a:lstStyle/>
          <a:p>
            <a:r>
              <a:rPr lang="en-IN" dirty="0"/>
              <a:t>FLOW DIAGRAM AND USER FLOW:</a:t>
            </a:r>
          </a:p>
        </p:txBody>
      </p:sp>
      <p:pic>
        <p:nvPicPr>
          <p:cNvPr id="9" name="Content Placeholder 8">
            <a:extLst>
              <a:ext uri="{FF2B5EF4-FFF2-40B4-BE49-F238E27FC236}">
                <a16:creationId xmlns:a16="http://schemas.microsoft.com/office/drawing/2014/main" id="{EE6C2532-EF83-4AA8-65FD-B7999465C422}"/>
              </a:ext>
            </a:extLst>
          </p:cNvPr>
          <p:cNvPicPr>
            <a:picLocks noGrp="1" noChangeAspect="1"/>
          </p:cNvPicPr>
          <p:nvPr>
            <p:ph idx="1"/>
          </p:nvPr>
        </p:nvPicPr>
        <p:blipFill>
          <a:blip r:embed="rId2"/>
          <a:stretch>
            <a:fillRect/>
          </a:stretch>
        </p:blipFill>
        <p:spPr>
          <a:xfrm>
            <a:off x="433037" y="2139628"/>
            <a:ext cx="6459674" cy="3254492"/>
          </a:xfrm>
        </p:spPr>
      </p:pic>
      <p:sp>
        <p:nvSpPr>
          <p:cNvPr id="11" name="TextBox 10">
            <a:extLst>
              <a:ext uri="{FF2B5EF4-FFF2-40B4-BE49-F238E27FC236}">
                <a16:creationId xmlns:a16="http://schemas.microsoft.com/office/drawing/2014/main" id="{2416691A-D578-AADF-482B-7EF1DEC42A21}"/>
              </a:ext>
            </a:extLst>
          </p:cNvPr>
          <p:cNvSpPr txBox="1"/>
          <p:nvPr/>
        </p:nvSpPr>
        <p:spPr>
          <a:xfrm>
            <a:off x="7071919" y="1677963"/>
            <a:ext cx="1941622" cy="461665"/>
          </a:xfrm>
          <a:prstGeom prst="rect">
            <a:avLst/>
          </a:prstGeom>
          <a:noFill/>
        </p:spPr>
        <p:txBody>
          <a:bodyPr wrap="none" rtlCol="0">
            <a:spAutoFit/>
          </a:bodyPr>
          <a:lstStyle/>
          <a:p>
            <a:r>
              <a:rPr lang="en-IN" sz="2400" dirty="0"/>
              <a:t>USER FLOW</a:t>
            </a:r>
            <a:r>
              <a:rPr lang="en-IN" dirty="0"/>
              <a:t>:</a:t>
            </a:r>
          </a:p>
        </p:txBody>
      </p:sp>
      <p:sp>
        <p:nvSpPr>
          <p:cNvPr id="12" name="TextBox 11">
            <a:extLst>
              <a:ext uri="{FF2B5EF4-FFF2-40B4-BE49-F238E27FC236}">
                <a16:creationId xmlns:a16="http://schemas.microsoft.com/office/drawing/2014/main" id="{EAAE4B89-FE31-149B-9345-A2F11007095F}"/>
              </a:ext>
            </a:extLst>
          </p:cNvPr>
          <p:cNvSpPr txBox="1"/>
          <p:nvPr/>
        </p:nvSpPr>
        <p:spPr>
          <a:xfrm>
            <a:off x="7340367" y="2390862"/>
            <a:ext cx="4345497" cy="1754326"/>
          </a:xfrm>
          <a:prstGeom prst="rect">
            <a:avLst/>
          </a:prstGeom>
          <a:noFill/>
        </p:spPr>
        <p:txBody>
          <a:bodyPr wrap="square" rtlCol="0">
            <a:spAutoFit/>
          </a:bodyPr>
          <a:lstStyle/>
          <a:p>
            <a:r>
              <a:rPr lang="en-IN" dirty="0"/>
              <a:t>patient </a:t>
            </a:r>
            <a:r>
              <a:rPr lang="en-IN" dirty="0">
                <a:sym typeface="Wingdings" panose="05000000000000000000" pitchFamily="2" charset="2"/>
              </a:rPr>
              <a:t> login-&gt;search doctor-&gt;book</a:t>
            </a:r>
          </a:p>
          <a:p>
            <a:r>
              <a:rPr lang="en-IN" dirty="0">
                <a:sym typeface="Wingdings" panose="05000000000000000000" pitchFamily="2" charset="2"/>
              </a:rPr>
              <a:t>Appointment-&gt;teleconsultation-&gt;receive </a:t>
            </a:r>
          </a:p>
          <a:p>
            <a:r>
              <a:rPr lang="en-IN" dirty="0">
                <a:sym typeface="Wingdings" panose="05000000000000000000" pitchFamily="2" charset="2"/>
              </a:rPr>
              <a:t>Prescription-&gt;view reports-&gt;doctor-&gt;login</a:t>
            </a:r>
          </a:p>
          <a:p>
            <a:r>
              <a:rPr lang="en-IN" dirty="0">
                <a:sym typeface="Wingdings" panose="05000000000000000000" pitchFamily="2" charset="2"/>
              </a:rPr>
              <a:t>-&gt;manage schedule-&gt;</a:t>
            </a:r>
            <a:r>
              <a:rPr lang="en-IN" dirty="0" err="1">
                <a:sym typeface="Wingdings" panose="05000000000000000000" pitchFamily="2" charset="2"/>
              </a:rPr>
              <a:t>teleconsult</a:t>
            </a:r>
            <a:r>
              <a:rPr lang="en-IN" dirty="0">
                <a:sym typeface="Wingdings" panose="05000000000000000000" pitchFamily="2" charset="2"/>
              </a:rPr>
              <a:t>-&gt;write</a:t>
            </a:r>
          </a:p>
          <a:p>
            <a:r>
              <a:rPr lang="en-IN" dirty="0">
                <a:sym typeface="Wingdings" panose="05000000000000000000" pitchFamily="2" charset="2"/>
              </a:rPr>
              <a:t>Prescription admin-&gt;-&gt;login-&gt;monitor </a:t>
            </a:r>
          </a:p>
          <a:p>
            <a:r>
              <a:rPr lang="en-IN" dirty="0">
                <a:sym typeface="Wingdings" panose="05000000000000000000" pitchFamily="2" charset="2"/>
              </a:rPr>
              <a:t>Analytics-&gt;manage users</a:t>
            </a:r>
            <a:endParaRPr lang="en-IN" dirty="0"/>
          </a:p>
        </p:txBody>
      </p:sp>
    </p:spTree>
    <p:extLst>
      <p:ext uri="{BB962C8B-B14F-4D97-AF65-F5344CB8AC3E}">
        <p14:creationId xmlns:p14="http://schemas.microsoft.com/office/powerpoint/2010/main" val="16602058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0F15F-3A66-C13A-CB11-8DD124F93B17}"/>
              </a:ext>
            </a:extLst>
          </p:cNvPr>
          <p:cNvSpPr>
            <a:spLocks noGrp="1"/>
          </p:cNvSpPr>
          <p:nvPr>
            <p:ph type="title"/>
          </p:nvPr>
        </p:nvSpPr>
        <p:spPr/>
        <p:txBody>
          <a:bodyPr/>
          <a:lstStyle/>
          <a:p>
            <a:r>
              <a:rPr lang="en-US" dirty="0"/>
              <a:t>DESIGN PROCESS:</a:t>
            </a:r>
          </a:p>
        </p:txBody>
      </p:sp>
      <p:sp>
        <p:nvSpPr>
          <p:cNvPr id="4" name="Rectangle 1">
            <a:extLst>
              <a:ext uri="{FF2B5EF4-FFF2-40B4-BE49-F238E27FC236}">
                <a16:creationId xmlns:a16="http://schemas.microsoft.com/office/drawing/2014/main" id="{3EE4E48E-9527-6A16-39EF-133C4EF6E5E8}"/>
              </a:ext>
            </a:extLst>
          </p:cNvPr>
          <p:cNvSpPr>
            <a:spLocks noGrp="1" noChangeArrowheads="1"/>
          </p:cNvSpPr>
          <p:nvPr>
            <p:ph idx="1"/>
          </p:nvPr>
        </p:nvSpPr>
        <p:spPr bwMode="auto">
          <a:xfrm>
            <a:off x="913796" y="2779664"/>
            <a:ext cx="7414127"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The </a:t>
            </a:r>
            <a:r>
              <a:rPr kumimoji="0" lang="en-US" altLang="en-US" sz="1800" b="1" i="0" u="none" strike="noStrike" cap="none" normalizeH="0" baseline="0" dirty="0">
                <a:ln>
                  <a:noFill/>
                </a:ln>
                <a:solidFill>
                  <a:schemeClr val="tx1"/>
                </a:solidFill>
                <a:effectLst/>
                <a:latin typeface="Arial" panose="020B0604020202020204" pitchFamily="34" charset="0"/>
              </a:rPr>
              <a:t>Smart Healthcare Appointment System</a:t>
            </a:r>
            <a:r>
              <a:rPr kumimoji="0" lang="en-US" altLang="en-US" sz="1800" b="0" i="0" u="none" strike="noStrike" cap="none" normalizeH="0" baseline="0" dirty="0">
                <a:ln>
                  <a:noFill/>
                </a:ln>
                <a:solidFill>
                  <a:schemeClr val="tx1"/>
                </a:solidFill>
                <a:effectLst/>
                <a:latin typeface="Arial" panose="020B0604020202020204" pitchFamily="34" charset="0"/>
              </a:rPr>
              <a:t> prototype in Figma helps design a user-friendly healthcare platform.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It includes screens for login, patient and doctor dashboards, appointment booking, and teleconsultation.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Using modern colors, smooth animations, and clear navigation, it creates an interactive design that improves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communication and simplifies hospital appointment management efficiently.</a:t>
            </a:r>
          </a:p>
        </p:txBody>
      </p:sp>
      <p:pic>
        <p:nvPicPr>
          <p:cNvPr id="5" name="Picture 4" descr="A close-up of a blue background&#10;&#10;AI-generated content may be incorrect.">
            <a:extLst>
              <a:ext uri="{FF2B5EF4-FFF2-40B4-BE49-F238E27FC236}">
                <a16:creationId xmlns:a16="http://schemas.microsoft.com/office/drawing/2014/main" id="{C4F15D0C-CEA9-A7CA-EBC7-7572E73DEEAF}"/>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8023123" y="2779664"/>
            <a:ext cx="3886199" cy="2779664"/>
          </a:xfrm>
          <a:prstGeom prst="rect">
            <a:avLst/>
          </a:prstGeom>
        </p:spPr>
      </p:pic>
    </p:spTree>
    <p:extLst>
      <p:ext uri="{BB962C8B-B14F-4D97-AF65-F5344CB8AC3E}">
        <p14:creationId xmlns:p14="http://schemas.microsoft.com/office/powerpoint/2010/main" val="20614223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103AB-FD1E-FD49-F5CE-BFE03DC33F90}"/>
              </a:ext>
            </a:extLst>
          </p:cNvPr>
          <p:cNvSpPr>
            <a:spLocks noGrp="1"/>
          </p:cNvSpPr>
          <p:nvPr>
            <p:ph type="title"/>
          </p:nvPr>
        </p:nvSpPr>
        <p:spPr/>
        <p:txBody>
          <a:bodyPr/>
          <a:lstStyle/>
          <a:p>
            <a:r>
              <a:rPr lang="en-US" dirty="0"/>
              <a:t>EXPECTED OUTCOME:</a:t>
            </a:r>
          </a:p>
        </p:txBody>
      </p:sp>
      <p:sp>
        <p:nvSpPr>
          <p:cNvPr id="3" name="Content Placeholder 2">
            <a:extLst>
              <a:ext uri="{FF2B5EF4-FFF2-40B4-BE49-F238E27FC236}">
                <a16:creationId xmlns:a16="http://schemas.microsoft.com/office/drawing/2014/main" id="{72EA18BD-A6FE-F6DE-5617-37D678CAC4D1}"/>
              </a:ext>
            </a:extLst>
          </p:cNvPr>
          <p:cNvSpPr>
            <a:spLocks noGrp="1"/>
          </p:cNvSpPr>
          <p:nvPr>
            <p:ph idx="1"/>
          </p:nvPr>
        </p:nvSpPr>
        <p:spPr>
          <a:xfrm>
            <a:off x="2265028" y="2659310"/>
            <a:ext cx="4437776" cy="2852257"/>
          </a:xfrm>
        </p:spPr>
        <p:txBody>
          <a:bodyPr>
            <a:normAutofit fontScale="70000" lnSpcReduction="20000"/>
          </a:bodyPr>
          <a:lstStyle/>
          <a:p>
            <a:endParaRPr lang="en-US" dirty="0">
              <a:hlinkClick r:id="rId2"/>
            </a:endParaRPr>
          </a:p>
          <a:p>
            <a:endParaRPr lang="en-US" dirty="0">
              <a:hlinkClick r:id="rId2"/>
            </a:endParaRPr>
          </a:p>
          <a:p>
            <a:endParaRPr lang="en-US" dirty="0">
              <a:hlinkClick r:id="rId2"/>
            </a:endParaRPr>
          </a:p>
          <a:p>
            <a:endParaRPr lang="en-US" dirty="0">
              <a:hlinkClick r:id="rId2"/>
            </a:endParaRPr>
          </a:p>
          <a:p>
            <a:endParaRPr lang="en-US" dirty="0">
              <a:hlinkClick r:id="rId2"/>
            </a:endParaRPr>
          </a:p>
          <a:p>
            <a:pPr marL="36900" indent="0">
              <a:buNone/>
            </a:pPr>
            <a:r>
              <a:rPr lang="en-US" dirty="0">
                <a:hlinkClick r:id="rId2"/>
              </a:rPr>
              <a:t>https://www.figma.com/make/Uhuysom3kCkAlx2AchN0Sd/Smart-Healthcare-Appointment-System?node-id=0-1&amp;p=f&amp;t=mNt8SCMixqPl6v08-0&amp;fullscreen=1</a:t>
            </a:r>
          </a:p>
        </p:txBody>
      </p:sp>
      <p:sp>
        <p:nvSpPr>
          <p:cNvPr id="6" name="TextBox 5">
            <a:extLst>
              <a:ext uri="{FF2B5EF4-FFF2-40B4-BE49-F238E27FC236}">
                <a16:creationId xmlns:a16="http://schemas.microsoft.com/office/drawing/2014/main" id="{51BCCB55-623F-E87F-55E6-C02BC27FBA88}"/>
              </a:ext>
            </a:extLst>
          </p:cNvPr>
          <p:cNvSpPr txBox="1"/>
          <p:nvPr/>
        </p:nvSpPr>
        <p:spPr>
          <a:xfrm>
            <a:off x="1515850" y="4336692"/>
            <a:ext cx="1114139" cy="461665"/>
          </a:xfrm>
          <a:prstGeom prst="rect">
            <a:avLst/>
          </a:prstGeom>
          <a:noFill/>
        </p:spPr>
        <p:txBody>
          <a:bodyPr wrap="square" rtlCol="0">
            <a:spAutoFit/>
          </a:bodyPr>
          <a:lstStyle/>
          <a:p>
            <a:r>
              <a:rPr lang="en-IN" sz="2400" dirty="0"/>
              <a:t>Link:</a:t>
            </a:r>
          </a:p>
        </p:txBody>
      </p:sp>
      <p:sp>
        <p:nvSpPr>
          <p:cNvPr id="7" name="TextBox 6">
            <a:extLst>
              <a:ext uri="{FF2B5EF4-FFF2-40B4-BE49-F238E27FC236}">
                <a16:creationId xmlns:a16="http://schemas.microsoft.com/office/drawing/2014/main" id="{E0B14A47-0722-026D-DB23-BF737C2CB2FA}"/>
              </a:ext>
            </a:extLst>
          </p:cNvPr>
          <p:cNvSpPr txBox="1"/>
          <p:nvPr/>
        </p:nvSpPr>
        <p:spPr>
          <a:xfrm>
            <a:off x="729043" y="2177223"/>
            <a:ext cx="10046981" cy="1908215"/>
          </a:xfrm>
          <a:prstGeom prst="rect">
            <a:avLst/>
          </a:prstGeom>
          <a:noFill/>
        </p:spPr>
        <p:txBody>
          <a:bodyPr wrap="none" rtlCol="0">
            <a:spAutoFit/>
          </a:bodyPr>
          <a:lstStyle/>
          <a:p>
            <a:pPr marL="342900" indent="-342900">
              <a:buFont typeface="Arial" panose="020B0604020202020204" pitchFamily="34" charset="0"/>
              <a:buChar char="•"/>
            </a:pPr>
            <a:r>
              <a:rPr lang="en-US" sz="2000" dirty="0"/>
              <a:t>The expected outcome of the </a:t>
            </a:r>
            <a:r>
              <a:rPr lang="en-US" sz="2000" b="1" dirty="0"/>
              <a:t>Smart Healthcare Appointment System</a:t>
            </a:r>
            <a:r>
              <a:rPr lang="en-US" sz="2000" dirty="0"/>
              <a:t> is an interactive </a:t>
            </a:r>
          </a:p>
          <a:p>
            <a:r>
              <a:rPr lang="en-US" sz="2000" dirty="0"/>
              <a:t>and efficient digital platform that connects patients, doctors, and administrators in one place. </a:t>
            </a:r>
          </a:p>
          <a:p>
            <a:pPr marL="342900" indent="-342900">
              <a:buFont typeface="Arial" panose="020B0604020202020204" pitchFamily="34" charset="0"/>
              <a:buChar char="•"/>
            </a:pPr>
            <a:r>
              <a:rPr lang="en-US" sz="2000" dirty="0"/>
              <a:t>It enables easy appointment booking, teleconsultation, and access to medical records.</a:t>
            </a:r>
          </a:p>
          <a:p>
            <a:pPr marL="342900" indent="-342900">
              <a:buFont typeface="Arial" panose="020B0604020202020204" pitchFamily="34" charset="0"/>
              <a:buChar char="•"/>
            </a:pPr>
            <a:r>
              <a:rPr lang="en-US" sz="2000" dirty="0"/>
              <a:t> The system improves communication, reduces waiting time, ensures data security,</a:t>
            </a:r>
          </a:p>
          <a:p>
            <a:r>
              <a:rPr lang="en-US" sz="2000" dirty="0"/>
              <a:t> and enhances overall healthcare experience.</a:t>
            </a:r>
            <a:endParaRPr lang="en-US" sz="2000" dirty="0">
              <a:hlinkClick r:id="rId2"/>
            </a:endParaRPr>
          </a:p>
          <a:p>
            <a:pPr marL="285750" indent="-285750">
              <a:buFont typeface="Arial" panose="020B0604020202020204" pitchFamily="34" charset="0"/>
              <a:buChar char="•"/>
            </a:pPr>
            <a:endParaRPr lang="en-IN" dirty="0"/>
          </a:p>
        </p:txBody>
      </p:sp>
    </p:spTree>
    <p:extLst>
      <p:ext uri="{BB962C8B-B14F-4D97-AF65-F5344CB8AC3E}">
        <p14:creationId xmlns:p14="http://schemas.microsoft.com/office/powerpoint/2010/main" val="29034832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0D8492-37ED-18C2-E563-1FEF99E4EF20}"/>
              </a:ext>
            </a:extLst>
          </p:cNvPr>
          <p:cNvSpPr>
            <a:spLocks noGrp="1"/>
          </p:cNvSpPr>
          <p:nvPr>
            <p:ph type="title"/>
          </p:nvPr>
        </p:nvSpPr>
        <p:spPr>
          <a:xfrm>
            <a:off x="687898" y="738231"/>
            <a:ext cx="3934436" cy="1028001"/>
          </a:xfrm>
        </p:spPr>
        <p:txBody>
          <a:bodyPr/>
          <a:lstStyle/>
          <a:p>
            <a:r>
              <a:rPr lang="en-IN" dirty="0"/>
              <a:t>SIGN IN PAGE</a:t>
            </a:r>
          </a:p>
        </p:txBody>
      </p:sp>
      <p:pic>
        <p:nvPicPr>
          <p:cNvPr id="5" name="Content Placeholder 4">
            <a:extLst>
              <a:ext uri="{FF2B5EF4-FFF2-40B4-BE49-F238E27FC236}">
                <a16:creationId xmlns:a16="http://schemas.microsoft.com/office/drawing/2014/main" id="{18B87B1B-E28E-88C8-F450-3C51E8EC164A}"/>
              </a:ext>
            </a:extLst>
          </p:cNvPr>
          <p:cNvPicPr>
            <a:picLocks noGrp="1" noChangeAspect="1"/>
          </p:cNvPicPr>
          <p:nvPr>
            <p:ph idx="1"/>
          </p:nvPr>
        </p:nvPicPr>
        <p:blipFill>
          <a:blip r:embed="rId2"/>
          <a:stretch>
            <a:fillRect/>
          </a:stretch>
        </p:blipFill>
        <p:spPr>
          <a:xfrm>
            <a:off x="796955" y="2076450"/>
            <a:ext cx="4353886" cy="3714750"/>
          </a:xfrm>
        </p:spPr>
      </p:pic>
      <p:pic>
        <p:nvPicPr>
          <p:cNvPr id="7" name="Picture 6">
            <a:extLst>
              <a:ext uri="{FF2B5EF4-FFF2-40B4-BE49-F238E27FC236}">
                <a16:creationId xmlns:a16="http://schemas.microsoft.com/office/drawing/2014/main" id="{67108806-0AA2-3356-D85F-885B3DC50D7C}"/>
              </a:ext>
            </a:extLst>
          </p:cNvPr>
          <p:cNvPicPr>
            <a:picLocks noChangeAspect="1"/>
          </p:cNvPicPr>
          <p:nvPr/>
        </p:nvPicPr>
        <p:blipFill>
          <a:blip r:embed="rId3"/>
          <a:stretch>
            <a:fillRect/>
          </a:stretch>
        </p:blipFill>
        <p:spPr>
          <a:xfrm>
            <a:off x="5620624" y="1593908"/>
            <a:ext cx="6367244" cy="4521142"/>
          </a:xfrm>
          <a:prstGeom prst="rect">
            <a:avLst/>
          </a:prstGeom>
        </p:spPr>
      </p:pic>
      <p:sp>
        <p:nvSpPr>
          <p:cNvPr id="8" name="TextBox 7">
            <a:extLst>
              <a:ext uri="{FF2B5EF4-FFF2-40B4-BE49-F238E27FC236}">
                <a16:creationId xmlns:a16="http://schemas.microsoft.com/office/drawing/2014/main" id="{DA0AB9DA-5D83-58BB-47B2-B763D19E6BC5}"/>
              </a:ext>
            </a:extLst>
          </p:cNvPr>
          <p:cNvSpPr txBox="1"/>
          <p:nvPr/>
        </p:nvSpPr>
        <p:spPr>
          <a:xfrm>
            <a:off x="6862194" y="738231"/>
            <a:ext cx="2514471" cy="584775"/>
          </a:xfrm>
          <a:prstGeom prst="rect">
            <a:avLst/>
          </a:prstGeom>
          <a:noFill/>
        </p:spPr>
        <p:txBody>
          <a:bodyPr wrap="none" rtlCol="0">
            <a:spAutoFit/>
          </a:bodyPr>
          <a:lstStyle/>
          <a:p>
            <a:r>
              <a:rPr lang="en-IN" sz="3200" dirty="0"/>
              <a:t>HOME PAGE</a:t>
            </a:r>
          </a:p>
        </p:txBody>
      </p:sp>
    </p:spTree>
    <p:extLst>
      <p:ext uri="{BB962C8B-B14F-4D97-AF65-F5344CB8AC3E}">
        <p14:creationId xmlns:p14="http://schemas.microsoft.com/office/powerpoint/2010/main" val="16275297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3D3A91-AB02-D2CF-C4C6-8D6A5D667411}"/>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a16="http://schemas.microsoft.com/office/drawing/2014/main" id="{012C27E1-62C5-813E-930A-57972E1D9287}"/>
              </a:ext>
            </a:extLst>
          </p:cNvPr>
          <p:cNvSpPr>
            <a:spLocks noGrp="1"/>
          </p:cNvSpPr>
          <p:nvPr>
            <p:ph idx="1"/>
          </p:nvPr>
        </p:nvSpPr>
        <p:spPr>
          <a:xfrm>
            <a:off x="913795" y="2076451"/>
            <a:ext cx="9924781" cy="2747220"/>
          </a:xfrm>
        </p:spPr>
        <p:txBody>
          <a:bodyPr/>
          <a:lstStyle/>
          <a:p>
            <a:r>
              <a:rPr lang="en-US" dirty="0"/>
              <a:t>The Smart Healthcare Appointment System provides a modern solution to manage healthcare services efficiently. It reduces patient waiting time, simplifies appointment scheduling, and improves communication between doctors and patients. With features like teleconsultation and digital reports, it ensures quick, secure, and convenient healthcare access. This system promotes a smarter, more connected, and patient-friendly healthcare experience for the future.</a:t>
            </a:r>
            <a:endParaRPr lang="en-IN" dirty="0"/>
          </a:p>
        </p:txBody>
      </p:sp>
    </p:spTree>
    <p:extLst>
      <p:ext uri="{BB962C8B-B14F-4D97-AF65-F5344CB8AC3E}">
        <p14:creationId xmlns:p14="http://schemas.microsoft.com/office/powerpoint/2010/main" val="300504242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VTI">
  <a:themeElements>
    <a:clrScheme name="Custom 35">
      <a:dk1>
        <a:sysClr val="windowText" lastClr="000000"/>
      </a:dk1>
      <a:lt1>
        <a:sysClr val="window" lastClr="FFFFFF"/>
      </a:lt1>
      <a:dk2>
        <a:srgbClr val="4E3B30"/>
      </a:dk2>
      <a:lt2>
        <a:srgbClr val="F4EDD8"/>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Custom 4">
      <a:majorFont>
        <a:latin typeface="Goudy Old Style"/>
        <a:ea typeface=""/>
        <a:cs typeface=""/>
      </a:majorFont>
      <a:minorFont>
        <a:latin typeface="Goudy Old Style"/>
        <a:ea typeface=""/>
        <a:cs typeface=""/>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VTI" id="{35C4A07C-0176-4A32-9BCB-B016516853F0}" vid="{9B70D35C-BCA8-4715-BB49-8BE54A7FC0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themeOverride>
</file>

<file path=ppt/theme/themeOverride2.xml><?xml version="1.0" encoding="utf-8"?>
<a:themeOverride xmlns:a="http://schemas.openxmlformats.org/drawingml/2006/main">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0585E981-8C91-4205-A0C3-C991F42B4C9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4B270AB-C138-415C-897E-3C24487DECF1}">
  <ds:schemaRefs>
    <ds:schemaRef ds:uri="http://schemas.microsoft.com/sharepoint/v3/contenttype/forms"/>
  </ds:schemaRefs>
</ds:datastoreItem>
</file>

<file path=customXml/itemProps3.xml><?xml version="1.0" encoding="utf-8"?>
<ds:datastoreItem xmlns:ds="http://schemas.openxmlformats.org/officeDocument/2006/customXml" ds:itemID="{2C4C00F4-06E9-43E3-AD97-88A857CEFA82}">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{5E7CCBEE-8370-4442-8C3D-12F7F776A3E5}TFe742eee6-54b3-45e8-a03d-f3d997f9b6caf6c338c2_win32-3734725ae7e2</Template>
  <TotalTime>155</TotalTime>
  <Words>825</Words>
  <Application>Microsoft Office PowerPoint</Application>
  <PresentationFormat>Widescreen</PresentationFormat>
  <Paragraphs>82</Paragraphs>
  <Slides>12</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Goudy Old Style</vt:lpstr>
      <vt:lpstr>Wingdings</vt:lpstr>
      <vt:lpstr>Wingdings 2</vt:lpstr>
      <vt:lpstr>SlateVTI</vt:lpstr>
      <vt:lpstr>Smart Healthcare Appointment System</vt:lpstr>
      <vt:lpstr>TITLE AGENDAS </vt:lpstr>
      <vt:lpstr>INTRODUCTION</vt:lpstr>
      <vt:lpstr>PROBLEM STATEMENT:</vt:lpstr>
      <vt:lpstr>OBJECTIVE:</vt:lpstr>
      <vt:lpstr>WHY IT’S MATTER KNOW?</vt:lpstr>
      <vt:lpstr>TOOLS AND TECHNOLOGIES:</vt:lpstr>
      <vt:lpstr>FLOW DIAGRAM AND USER FLOW:</vt:lpstr>
      <vt:lpstr>DESIGN PROCESS:</vt:lpstr>
      <vt:lpstr>EXPECTED OUTCOME:</vt:lpstr>
      <vt:lpstr>SIGN IN PAGE</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vaishu kook</dc:creator>
  <cp:lastModifiedBy>vaishu kook</cp:lastModifiedBy>
  <cp:revision>2</cp:revision>
  <dcterms:created xsi:type="dcterms:W3CDTF">2025-11-02T04:12:29Z</dcterms:created>
  <dcterms:modified xsi:type="dcterms:W3CDTF">2025-11-02T09:10:57Z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